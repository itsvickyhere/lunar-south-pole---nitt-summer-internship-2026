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1" r:id="rId7"/>
    <p:sldId id="269" r:id="rId8"/>
    <p:sldId id="262" r:id="rId9"/>
    <p:sldId id="263" r:id="rId10"/>
    <p:sldId id="270" r:id="rId11"/>
    <p:sldId id="264" r:id="rId12"/>
    <p:sldId id="271" r:id="rId13"/>
    <p:sldId id="265" r:id="rId14"/>
    <p:sldId id="272" r:id="rId15"/>
    <p:sldId id="266" r:id="rId16"/>
    <p:sldId id="267" r:id="rId17"/>
    <p:sldId id="26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BDF63"/>
    <a:srgbClr val="79AC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77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7C1CA-3EA4-4FB4-B302-298FBBE547A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3A55A-366A-4FE8-8D0F-04BB98DFA31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RESEARCH PROGRESS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RESEARCH PROGRESS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RESEARCH PROGRESS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1BD86D-3F75-4275-A978-C849E889DB7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389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5A6770"/>
                </a:solidFill>
              </a:rPr>
              <a:t>National Institute of Technology Tiruchirappalli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1F3953"/>
                </a:solidFill>
              </a:rPr>
              <a:t>Lunar South Pole Digital Twin Internship 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0">
                <a:solidFill>
                  <a:srgbClr val="2A323A"/>
                </a:solidFill>
              </a:rPr>
              <a:t>Multi-sensor fusion, uncertainty, rover-accessible science planning, and mission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3749039"/>
            <a:ext cx="1508760" cy="384048"/>
          </a:xfrm>
          <a:prstGeom prst="round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18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3660" y="3749039"/>
            <a:ext cx="1508760" cy="384048"/>
          </a:xfrm>
          <a:prstGeom prst="round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03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A6770"/>
                </a:solidFill>
              </a:rPr>
              <a:t>Prepared for guide discussion and intern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Internship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Different lunar datasets measure different physical quantities.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292608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307592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645920"/>
            <a:ext cx="267004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Use feature-level fusion and preserve sensor-specific meaning.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Reusable maps, tables, models, and scenario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969264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2A323A"/>
                </a:solidFill>
              </a:rPr>
              <a:t>The internship work supports construction of a lunar south-pole digital twin. Each intern will work on a separate module using existing outputs and student reports. The focus is not file organization; the focus is research-grade modules for fusion, confidence, science-priority planning, and mission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4760" y="25044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Starting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39090" y="1181735"/>
            <a:ext cx="2971800" cy="960120"/>
            <a:chOff x="1080" y="1944"/>
            <a:chExt cx="4680" cy="1512"/>
          </a:xfrm>
        </p:grpSpPr>
        <p:sp>
          <p:nvSpPr>
            <p:cNvPr id="4" name="Rectangle 3"/>
            <p:cNvSpPr/>
            <p:nvPr/>
          </p:nvSpPr>
          <p:spPr>
            <a:xfrm>
              <a:off x="1080" y="1944"/>
              <a:ext cx="4680" cy="1512"/>
            </a:xfrm>
            <a:prstGeom prst="rect">
              <a:avLst/>
            </a:prstGeom>
            <a:solidFill>
              <a:srgbClr val="F5F8FA"/>
            </a:solidFill>
            <a:ln>
              <a:solidFill>
                <a:srgbClr val="CDD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80" y="1944"/>
              <a:ext cx="115" cy="1512"/>
            </a:xfrm>
            <a:prstGeom prst="rect">
              <a:avLst/>
            </a:prstGeom>
            <a:solidFill>
              <a:srgbClr val="2C60A0"/>
            </a:solidFill>
            <a:ln>
              <a:solidFill>
                <a:srgbClr val="2C6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39" y="2059"/>
              <a:ext cx="4277" cy="461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r>
                <a:rPr sz="1400" b="1">
                  <a:solidFill>
                    <a:srgbClr val="1F3953"/>
                  </a:solidFill>
                </a:rPr>
                <a:t>Core datasets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39" y="2592"/>
              <a:ext cx="4277" cy="763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r>
                <a:rPr sz="1300" b="0">
                  <a:solidFill>
                    <a:srgbClr val="2A323A"/>
                  </a:solidFill>
                </a:rPr>
                <a:t>LROC, LOLA, Mini-RF, DFSAR, M3, GRAIL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090" y="2419985"/>
            <a:ext cx="2926080" cy="960120"/>
            <a:chOff x="6048" y="1944"/>
            <a:chExt cx="4608" cy="1512"/>
          </a:xfrm>
        </p:grpSpPr>
        <p:sp>
          <p:nvSpPr>
            <p:cNvPr id="8" name="Rectangle 7"/>
            <p:cNvSpPr/>
            <p:nvPr/>
          </p:nvSpPr>
          <p:spPr>
            <a:xfrm>
              <a:off x="6048" y="1944"/>
              <a:ext cx="4608" cy="1512"/>
            </a:xfrm>
            <a:prstGeom prst="rect">
              <a:avLst/>
            </a:prstGeom>
            <a:solidFill>
              <a:srgbClr val="F5F8FA"/>
            </a:solidFill>
            <a:ln>
              <a:solidFill>
                <a:srgbClr val="CDD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048" y="1944"/>
              <a:ext cx="115" cy="1512"/>
            </a:xfrm>
            <a:prstGeom prst="rect">
              <a:avLst/>
            </a:prstGeom>
            <a:solidFill>
              <a:srgbClr val="208454"/>
            </a:solidFill>
            <a:ln>
              <a:solidFill>
                <a:srgbClr val="20845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307" y="2059"/>
              <a:ext cx="4204" cy="1295"/>
              <a:chOff x="6307" y="2059"/>
              <a:chExt cx="4204" cy="1295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6307" y="2059"/>
                <a:ext cx="4205" cy="461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sz="1400" b="1">
                    <a:solidFill>
                      <a:srgbClr val="1F3953"/>
                    </a:solidFill>
                  </a:rPr>
                  <a:t>Existing outputs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307" y="2592"/>
                <a:ext cx="4205" cy="763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sz="1300" b="0">
                    <a:solidFill>
                      <a:srgbClr val="2A323A"/>
                    </a:solidFill>
                  </a:rPr>
                  <a:t>registered layers, masks, q-score, radar/M3/GRAIL diagnostics</a:t>
                </a: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39090" y="3578225"/>
            <a:ext cx="2971800" cy="960120"/>
            <a:chOff x="11016" y="1944"/>
            <a:chExt cx="4680" cy="1512"/>
          </a:xfrm>
        </p:grpSpPr>
        <p:sp>
          <p:nvSpPr>
            <p:cNvPr id="12" name="Rectangle 11"/>
            <p:cNvSpPr/>
            <p:nvPr/>
          </p:nvSpPr>
          <p:spPr>
            <a:xfrm>
              <a:off x="11016" y="1944"/>
              <a:ext cx="4680" cy="1512"/>
            </a:xfrm>
            <a:prstGeom prst="rect">
              <a:avLst/>
            </a:prstGeom>
            <a:solidFill>
              <a:srgbClr val="F5F8FA"/>
            </a:solidFill>
            <a:ln>
              <a:solidFill>
                <a:srgbClr val="CDD6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016" y="1944"/>
              <a:ext cx="115" cy="1512"/>
            </a:xfrm>
            <a:prstGeom prst="rect">
              <a:avLst/>
            </a:prstGeom>
            <a:solidFill>
              <a:srgbClr val="208454"/>
            </a:solidFill>
            <a:ln>
              <a:solidFill>
                <a:srgbClr val="20845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1275" y="2059"/>
              <a:ext cx="4276" cy="1295"/>
              <a:chOff x="11275" y="2059"/>
              <a:chExt cx="4276" cy="1295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11275" y="2059"/>
                <a:ext cx="4277" cy="461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sz="1400" b="1">
                    <a:solidFill>
                      <a:srgbClr val="1F3953"/>
                    </a:solidFill>
                  </a:rPr>
                  <a:t>Student reports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1275" y="2592"/>
                <a:ext cx="4277" cy="763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sz="1300" b="0">
                    <a:solidFill>
                      <a:srgbClr val="2A323A"/>
                    </a:solidFill>
                  </a:rPr>
                  <a:t>M3 probability, traversability, rover simulation</a:t>
                </a:r>
              </a:p>
            </p:txBody>
          </p:sp>
        </p:grpSp>
      </p:grpSp>
      <p:pic>
        <p:nvPicPr>
          <p:cNvPr id="16" name="Picture 15" descr="fig01_dataset_appearanc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395" y="866775"/>
            <a:ext cx="8255635" cy="5134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Intern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How can LROC, LOLA, Mini-RF, DFSAR, M3, and GRAIL features be fused without forcing false pixel-level equivalence?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234440"/>
            <a:ext cx="73152" cy="13258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30759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Intern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64592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Which parts of the digital twin should the rover trust, and which parts are uncertain?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0896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108960"/>
            <a:ext cx="73152" cy="1325880"/>
          </a:xfrm>
          <a:prstGeom prst="rect">
            <a:avLst/>
          </a:prstGeom>
          <a:solidFill>
            <a:srgbClr val="1B807A"/>
          </a:solidFill>
          <a:ln>
            <a:solidFill>
              <a:srgbClr val="1B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18211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Intern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Which scientifically interesting targets are actually reachable by a rover?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10896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3108960"/>
            <a:ext cx="73152" cy="1325880"/>
          </a:xfrm>
          <a:prstGeom prst="rect">
            <a:avLst/>
          </a:prstGeom>
          <a:solidFill>
            <a:srgbClr val="B25248"/>
          </a:solidFill>
          <a:ln>
            <a:solidFill>
              <a:srgbClr val="B2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18211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Intern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52044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How robust is a rover mission under different failure and uncertainty conditions?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Four Parallel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Feature-Level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multi-sensor fusion without false pixel equivalence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44168"/>
            <a:ext cx="1234440" cy="320040"/>
          </a:xfrm>
          <a:prstGeom prst="round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23444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73152" cy="13258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130759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Trust and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64592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confidence and uncertainty for digital-twin 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44168"/>
            <a:ext cx="1234440" cy="320040"/>
          </a:xfrm>
          <a:prstGeom prst="round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108960"/>
            <a:ext cx="73152" cy="1325880"/>
          </a:xfrm>
          <a:prstGeom prst="rect">
            <a:avLst/>
          </a:prstGeom>
          <a:solidFill>
            <a:srgbClr val="1B807A"/>
          </a:solidFill>
          <a:ln>
            <a:solidFill>
              <a:srgbClr val="1B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18211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Reachable Science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52044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rank targets by science value and rover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218688"/>
            <a:ext cx="1234440" cy="320040"/>
          </a:xfrm>
          <a:prstGeom prst="roundRect">
            <a:avLst/>
          </a:prstGeom>
          <a:solidFill>
            <a:srgbClr val="1B807A"/>
          </a:solidFill>
          <a:ln>
            <a:solidFill>
              <a:srgbClr val="1B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Intern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108960"/>
            <a:ext cx="4663440" cy="13258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9320" y="3108960"/>
            <a:ext cx="73152" cy="1325880"/>
          </a:xfrm>
          <a:prstGeom prst="rect">
            <a:avLst/>
          </a:prstGeom>
          <a:solidFill>
            <a:srgbClr val="B25248"/>
          </a:solidFill>
          <a:ln>
            <a:solidFill>
              <a:srgbClr val="B2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53912" y="3182112"/>
            <a:ext cx="440740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3953"/>
                </a:solidFill>
              </a:rPr>
              <a:t>Mission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520440"/>
            <a:ext cx="4407407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test mission policies under failures and uncertainty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218688"/>
            <a:ext cx="1234440" cy="320040"/>
          </a:xfrm>
          <a:prstGeom prst="roundRect">
            <a:avLst/>
          </a:prstGeom>
          <a:solidFill>
            <a:srgbClr val="B25248"/>
          </a:solidFill>
          <a:ln>
            <a:solidFill>
              <a:srgbClr val="B2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Intern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 1: Feature-Level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9281160" cy="713232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60704"/>
            <a:ext cx="73152" cy="713232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33856"/>
            <a:ext cx="90251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902512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How can LROC, LOLA, Mini-RF, DFSAR, M3, and GRAIL features be fused without forcing false pixel-level equivalence?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73152" cy="8686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LROC, LOLA, Mini-RF, DFSAR, M3, GRAIL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938528"/>
            <a:ext cx="292608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5072" y="2011680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350008"/>
            <a:ext cx="267004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Sarthak Rawat + Harsh Kumar Singh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9516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fusion comparison and semantic maps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35808"/>
            <a:ext cx="379476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73152" cy="23317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108960"/>
            <a:ext cx="35387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Main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447288"/>
            <a:ext cx="353872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538728"/>
            <a:ext cx="347472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Build feature vectors from existing layers.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rPr b="1"/>
              <a:t>Compare weighted fusion, PCA/UMAP, and autoencoder or attention-based fusion.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Preserve native scale and physical meaning.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35808"/>
            <a:ext cx="498348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3035808"/>
            <a:ext cx="73152" cy="23317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3108960"/>
            <a:ext cx="47274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47288"/>
            <a:ext cx="472744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8888" y="3538728"/>
            <a:ext cx="466344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Feature dictionary.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rPr b="1"/>
              <a:t>Fusion-method comparison table.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Terrain-resource zones.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Radar-terrain agreement zones.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Science-accessibility zones.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768096"/>
            <a:ext cx="11109960" cy="18288"/>
          </a:xfrm>
          <a:prstGeom prst="rect">
            <a:avLst/>
          </a:prstGeom>
          <a:solidFill>
            <a:srgbClr val="CD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92024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Intern 1: Feature-Level Fusion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577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Feature-level fusion across sensor-specific evidence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60120"/>
            <a:ext cx="11045952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ern1_feature_level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00" y="1069848"/>
            <a:ext cx="9196007" cy="5175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03320" y="6455664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RESEARCH PROGRESS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 1: Method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Weighted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transparent baseline using expert weights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292608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307592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PCA / UMAP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645920"/>
            <a:ext cx="267004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latent structure with explicit scale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Autoencoder /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nonlinear representation with feature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 2: Trust and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9281160" cy="713232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60704"/>
            <a:ext cx="73152" cy="713232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33856"/>
            <a:ext cx="90251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902512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Which parts of the digital twin should the rover trust, and which parts are uncertain?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73152" cy="8686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LROC/LOLA masks, radar coverage, M3 source/overlap, GRAIL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938528"/>
            <a:ext cx="292608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5072" y="2011680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350008"/>
            <a:ext cx="267004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Sarthak Rawat + LunarRover simulation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9516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trust model, confidence table, uncertainty schematic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35808"/>
            <a:ext cx="379476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73152" cy="23317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108960"/>
            <a:ext cx="35387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Uncertainty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447288"/>
            <a:ext cx="353872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538728"/>
            <a:ext cx="347472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registration residuals and q-score support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sensor coverage, nodata, shadow, and PSR masks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native resolution mismatch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M3 seam/overlap support and GRAIL regional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35808"/>
            <a:ext cx="498348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3035808"/>
            <a:ext cx="73152" cy="23317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3108960"/>
            <a:ext cx="47274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Confidence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47288"/>
            <a:ext cx="472744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8888" y="3538728"/>
            <a:ext cx="466344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High: usable for local planning.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Medium: usable with caution.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Low: contextual support only.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Invalid: not used for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768096"/>
            <a:ext cx="11109960" cy="18288"/>
          </a:xfrm>
          <a:prstGeom prst="rect">
            <a:avLst/>
          </a:prstGeom>
          <a:solidFill>
            <a:srgbClr val="CD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92024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Intern 2: Trust and Uncertainty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577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Confidence-aware terrain interpretation for rover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60120"/>
            <a:ext cx="11045952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ern2_trust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00" y="1069848"/>
            <a:ext cx="9196007" cy="5175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03320" y="6455664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RESEARCH PROGRESS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 3: Reachable Science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9281160" cy="713232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60704"/>
            <a:ext cx="73152" cy="713232"/>
          </a:xfrm>
          <a:prstGeom prst="rect">
            <a:avLst/>
          </a:prstGeom>
          <a:solidFill>
            <a:srgbClr val="1B807A"/>
          </a:solidFill>
          <a:ln>
            <a:solidFill>
              <a:srgbClr val="1B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33856"/>
            <a:ext cx="90251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902512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Which scientifically interesting targets are actually reachable by a rover?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73152" cy="8686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LROC, LOLA, M3, Diviner if available, Mini-RF/DFSAR, GRAIL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938528"/>
            <a:ext cx="292608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5072" y="2011680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350008"/>
            <a:ext cx="267004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Sarthak Rawat + Harsh Kumar Singh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9516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ranked rover-accessible science targets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35808"/>
            <a:ext cx="379476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73152" cy="23317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108960"/>
            <a:ext cx="35387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Score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447288"/>
            <a:ext cx="353872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538728"/>
            <a:ext cx="347472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science value and resource probability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terrain safety and path cost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shadow/thermal risk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confidence penalty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35808"/>
            <a:ext cx="498348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3035808"/>
            <a:ext cx="73152" cy="23317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3108960"/>
            <a:ext cx="47274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47288"/>
            <a:ext cx="472744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8888" y="3538728"/>
            <a:ext cx="466344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science-only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safety-only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weighted science-safety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Pareto front target selection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use resource-priority or volatile-relevance language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768096"/>
            <a:ext cx="11109960" cy="18288"/>
          </a:xfrm>
          <a:prstGeom prst="rect">
            <a:avLst/>
          </a:prstGeom>
          <a:solidFill>
            <a:srgbClr val="CD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92024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Intern 3: Rover-Accessible Science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577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Science-priority targets filtered by traversability and access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60120"/>
            <a:ext cx="11045952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ern3_rover_accessible_sc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00" y="1069848"/>
            <a:ext cx="9196007" cy="5175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03320" y="6455664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RESEARCH PROGRESS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 4: Mission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9281160" cy="713232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60704"/>
            <a:ext cx="73152" cy="713232"/>
          </a:xfrm>
          <a:prstGeom prst="rect">
            <a:avLst/>
          </a:prstGeom>
          <a:solidFill>
            <a:srgbClr val="B25248"/>
          </a:solidFill>
          <a:ln>
            <a:solidFill>
              <a:srgbClr val="B2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33856"/>
            <a:ext cx="90251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472184"/>
            <a:ext cx="902512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A323A"/>
                </a:solidFill>
              </a:rPr>
              <a:t>How robust is a rover mission under different failure and uncertainty conditions?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38528"/>
            <a:ext cx="73152" cy="86868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LOLA terrain, LROC texture/shadow, resource-priority layer, traversability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938528"/>
            <a:ext cx="292608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5072" y="2011680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350008"/>
            <a:ext cx="267004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LunarRover + Harsh Kumar Singh + Sarthak Rawat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938528"/>
            <a:ext cx="2971800" cy="86868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95160" y="1938528"/>
            <a:ext cx="73152" cy="86868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011680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350008"/>
            <a:ext cx="2715768" cy="393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scenario tests and mission-resilience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35808"/>
            <a:ext cx="379476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73152" cy="23317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108960"/>
            <a:ext cx="35387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Scenario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447288"/>
            <a:ext cx="353872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538728"/>
            <a:ext cx="347472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sensor dropout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increased terrain uncertainty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wrong resource estimate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blocked path or limited energy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communication delay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35808"/>
            <a:ext cx="4983480" cy="23317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3035808"/>
            <a:ext cx="73152" cy="23317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3108960"/>
            <a:ext cx="47274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Policies and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47288"/>
            <a:ext cx="4727448" cy="1856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300" b="0">
              <a:solidFill>
                <a:srgbClr val="2A323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8888" y="3538728"/>
            <a:ext cx="4663440" cy="1746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2A323A"/>
                </a:solidFill>
              </a:defRPr>
            </a:pPr>
            <a:r>
              <a:t>shortest, safest, science-priority, and uncertainty-aware policies</a:t>
            </a:r>
          </a:p>
          <a:p>
            <a:pPr>
              <a:defRPr sz="1300">
                <a:solidFill>
                  <a:srgbClr val="2A323A"/>
                </a:solidFill>
              </a:defRPr>
            </a:pPr>
            <a:r>
              <a:t>success rate, distance, hazard exposure, science return, energy proxy, recovery after failure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768096"/>
            <a:ext cx="11109960" cy="18288"/>
          </a:xfrm>
          <a:prstGeom prst="rect">
            <a:avLst/>
          </a:prstGeom>
          <a:solidFill>
            <a:srgbClr val="CD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92024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Intern 4: Mission Resilience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577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Scenario-based route robustness under mission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60120"/>
            <a:ext cx="11045952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ern4_mission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76" y="1069848"/>
            <a:ext cx="7763256" cy="5175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03320" y="6455664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RESEARCH PROGRESS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Common Working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overview, datasets, frozen outputs, and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292608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307592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Preserve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645920"/>
            <a:ext cx="267004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sensor resolution and physical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1234440"/>
            <a:ext cx="73152" cy="960120"/>
          </a:xfrm>
          <a:prstGeom prst="rect">
            <a:avLst/>
          </a:prstGeom>
          <a:solidFill>
            <a:srgbClr val="B25248"/>
          </a:solidFill>
          <a:ln>
            <a:solidFill>
              <a:srgbClr val="B2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unvalidated water-ice or pixel-level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487168"/>
            <a:ext cx="96012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2A323A"/>
                </a:solidFill>
              </a:rPr>
              <a:t>The unpublished manuscript does not need to be shared. Interns should receive a short overview, allowed outputs, dataset descriptions, and relevant M.Tech reports. All modules should remain separate during the internship and can be combined after the final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Internship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1: 18-22 May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orientation, problem definition, input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3444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3192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96511" y="130759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2: 25-29 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164592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baseline method and first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123444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7804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2631" y="130759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3: 01-05 Jun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164592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comparison setup and early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6032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263347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4: 08-12 Jun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97180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method refinement and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56032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31920" y="256032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1" y="263347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5: 15-19 Jun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6511" y="297180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final experiments or scenario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256032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78040" y="256032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42631" y="263347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6: 22-26 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1" y="297180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module report and final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886200"/>
            <a:ext cx="288036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88620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959352"/>
            <a:ext cx="262432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3953"/>
                </a:solidFill>
              </a:rPr>
              <a:t>Week 7: 29 Jun-03 Jul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297680"/>
            <a:ext cx="262432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A323A"/>
                </a:solidFill>
              </a:rPr>
              <a:t>presentation and submission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83464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F3953"/>
                </a:solidFill>
              </a:rPr>
              <a:t>Final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032" y="6455664"/>
            <a:ext cx="4818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5A6770"/>
                </a:solidFill>
              </a:rPr>
              <a:t>RESEARCH PROGRESS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feature-level digital twin representation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292608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307592"/>
            <a:ext cx="267004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645920"/>
            <a:ext cx="267004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confidence and uncertainty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234440"/>
            <a:ext cx="2971800" cy="960120"/>
          </a:xfrm>
          <a:prstGeom prst="rect">
            <a:avLst/>
          </a:prstGeom>
          <a:solidFill>
            <a:srgbClr val="F5F8FA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1234440"/>
            <a:ext cx="73152" cy="960120"/>
          </a:xfrm>
          <a:prstGeom prst="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1307592"/>
            <a:ext cx="2715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3953"/>
                </a:solidFill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645920"/>
            <a:ext cx="2715768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A323A"/>
                </a:solidFill>
              </a:rPr>
              <a:t>reachable targets and resilience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14600"/>
            <a:ext cx="950976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2A323A"/>
                </a:solidFill>
              </a:rPr>
              <a:t>Together, the four modules should move the work toward a multi-resolution, confidence-aware lunar south-pole digital twin for rover-accessible science planning and mission-resilience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5/22/2026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RESEARCH PROGRESS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BD86D-3F75-4275-A978-C849E889DB7F}" type="slidenum">
              <a:rPr lang="en-IN" smtClean="0"/>
              <a:t>18</a:t>
            </a:fld>
            <a:endParaRPr lang="en-IN"/>
          </a:p>
        </p:txBody>
      </p:sp>
      <p:pic>
        <p:nvPicPr>
          <p:cNvPr id="6" name="Picture 5" descr="WhatsApp Image 2026-05-18 at 3.06.34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040" y="0"/>
            <a:ext cx="12283440" cy="6824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997</Words>
  <Application>Microsoft Office PowerPoint</Application>
  <PresentationFormat>Widescreen</PresentationFormat>
  <Paragraphs>185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bakiya kannan</dc:creator>
  <cp:lastModifiedBy>Vignesh B S</cp:lastModifiedBy>
  <cp:revision>195</cp:revision>
  <dcterms:created xsi:type="dcterms:W3CDTF">2023-02-28T13:53:00Z</dcterms:created>
  <dcterms:modified xsi:type="dcterms:W3CDTF">2026-05-22T09:06:40Z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766BD344B2AF4F2A918D12247FEC5076_12</vt:lpwstr>
  </property>
  <property fmtid="{D5CDD505-2E9C-101B-9397-08002B2CF9AE}" pid="3" name="KSOProductBuildVer">
    <vt:lpwstr>1033-12.1.0.26372</vt:lpwstr>
  </property>
</Properties>
</file>